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1FF5CB-8CC8-45DA-93B0-AF9EA47CD818}" v="866" dt="2026-09-18T00:28:15.665"/>
    <p1510:client id="{45E1DADE-9C8F-A21F-DBEB-B3F38796B95E}" v="15" vWet="16" dt="2026-09-18T00:08:02.12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694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Bom dia a todos da banca e ao professor Fabiano, nosso orientador. Nosso projeto se chama Health In Sight. Somos o Guilherme, o Cassiano e o Yan. (30 segundos)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Identificamos que hoje é difícil achar informação de saúde confiável na internet. Segundo o IESS, 6 em cada 10 brasileiros buscam informação de saúde online, e a OMS chama de infodemia essa mistura de informação verdadeira e falsa. O conteúdo oficial existe, mas está espalhado e em linguagem técnica.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resolver isso, o objetivo foi desenvolver um portal que reúne conteúdo de fontes oficiais, com consulta por sintomas, sem dar diagnóstico e coletando o mínimo de dados. Chegamos lá em cinco etapas, todas concluídas.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Uma coluna por vez, da esquerda para a direita. A última é a nossa: fonte sempre citada e sintomas que não ficam gravados.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requisito principal veio de uma norma: Argon2id da RFC 9106, TOTP da RFC 6238, coleta mínima e direitos do titular da LGPD e fonte citada por causa da infodemia da OMS. Passagem rápida, uns 45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Estruturamos o sistema na arquitetura MVT do Django. O back-end é Python com Django, que já traz proteção contra CSRF e SQL injection. O banco MySQL fica separado, na Aiven, com conexão cifrada. A API externa é a do Brevo, para o e-mail de recuperação. Se perguntarem do SQL, o sqlmigrate mostra o CREATE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Passe rápido, uns 20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Como podemos ver na demonstração a seguir, o fluxo principal consiste em criar a conta, ativar o segundo fator, entrar, consultar sintomas e cuidar dos próprios dados. Usar o vídeo gravado antes, caso a internet ou o Render falhem.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Para garantir a qualidade do código, fizemos testes automatizados com o framework de testes do Django, cobrindo senha, dois fatores, sessão, bloqueio, cadastro, direitos do titular e trilha de auditoria. A cada push, o GitHub Actions também procura segredos vazados e vulnerabilidades. Na direita está o print real do banco: nenhuma senha em texto, e cada hash é diferente por causa do salt.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Concluímos que o sistema atendeu aos requisitos propostos no início. Como trabalhos futuros, pretendemos ampliar o acervo, avisar quem salvou um material quando a fonte muda e adicionar códigos de recuperação para quem perder o celular.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Agradecemos a atenção de todos e ficamos à disposição para as perguntas da banca. Deixar este slide na tela durante as perguntas.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 INTEGRADOR  ·  POLÍTICAS DE SEGURANÇA DA INFORMAÇÃO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908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 Sight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divulgação de informações confiáveis sobre saúde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343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da Silva Bonifácio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Cassiano Jesus da Silva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 Baumgarten Costa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8912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ORIENTADOR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4343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Dr. Fabiano Bezerra Menegidio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138160" y="406908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INSTITUIÇÃO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43434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Universidade de Mogi das Cruzes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D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Informação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11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CONTEXTUALIZAÇÃO E PROBLEMA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conteúdo confiável existe. Ninguém chega nele.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931920" cy="3977640"/>
          </a:xfrm>
          <a:prstGeom prst="roundRect">
            <a:avLst>
              <a:gd name="adj" fmla="val 1860"/>
            </a:avLst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23774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em 10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47472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buscam informação de saúde na internet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394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C1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Fonte: IESS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892040" y="2322576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5230368" y="2240280"/>
            <a:ext cx="6245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verdadeira e falsa disputam o mesmo espaço. A OMS chama isso de infodemia.</a:t>
            </a:r>
            <a:r>
              <a:rPr lang="en-US" sz="16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6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892040" y="3557016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230368" y="3474720"/>
            <a:ext cx="6245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oficial existe, mas está espalhado por dezenas de portais diferentes.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892040" y="4791456"/>
            <a:ext cx="146304" cy="146304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5230368" y="4709160"/>
            <a:ext cx="62453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quase sempre em linguagem técnica, escrita para profissional de saúde.</a:t>
            </a:r>
            <a:r>
              <a:rPr lang="en-US" sz="16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6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o sistema faz, e por quais etapas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08792" cy="1371600"/>
          </a:xfrm>
          <a:prstGeom prst="roundRect">
            <a:avLst>
              <a:gd name="adj" fmla="val 5333"/>
            </a:avLst>
          </a:prstGeom>
          <a:solidFill>
            <a:srgbClr val="E7EDFD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21214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50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OBJETIVO GERAL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395728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Reunir conteúdo de fontes oficiais de saúde num só lugar, com consulta por sintomas e sem diagnóstico, coletando o mínimo de dados de quem usa.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0080" y="3611880"/>
            <a:ext cx="1962302" cy="2103120"/>
          </a:xfrm>
          <a:prstGeom prst="roundRect">
            <a:avLst>
              <a:gd name="adj" fmla="val 3728"/>
            </a:avLst>
          </a:prstGeom>
          <a:solidFill>
            <a:srgbClr val="DCF2E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concluído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160520"/>
            <a:ext cx="15051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 gestão de credenciais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76702" y="3611880"/>
            <a:ext cx="1962302" cy="2103120"/>
          </a:xfrm>
          <a:prstGeom prst="roundRect">
            <a:avLst>
              <a:gd name="adj" fmla="val 3728"/>
            </a:avLst>
          </a:prstGeom>
          <a:solidFill>
            <a:srgbClr val="DCF2E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3105302" y="384048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concluído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105302" y="4160520"/>
            <a:ext cx="15051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113325" y="3611880"/>
            <a:ext cx="1962302" cy="2103120"/>
          </a:xfrm>
          <a:prstGeom prst="roundRect">
            <a:avLst>
              <a:gd name="adj" fmla="val 3728"/>
            </a:avLst>
          </a:prstGeom>
          <a:solidFill>
            <a:srgbClr val="DCF2E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5341925" y="384048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concluído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341925" y="4160520"/>
            <a:ext cx="15051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e comunicação segura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49947" y="3611880"/>
            <a:ext cx="1962302" cy="2103120"/>
          </a:xfrm>
          <a:prstGeom prst="roundRect">
            <a:avLst>
              <a:gd name="adj" fmla="val 3728"/>
            </a:avLst>
          </a:prstGeom>
          <a:solidFill>
            <a:srgbClr val="DCF2E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7578547" y="384048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concluído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7578547" y="4160520"/>
            <a:ext cx="15051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LGPD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586570" y="3611880"/>
            <a:ext cx="1962302" cy="2103120"/>
          </a:xfrm>
          <a:prstGeom prst="roundRect">
            <a:avLst>
              <a:gd name="adj" fmla="val 3728"/>
            </a:avLst>
          </a:prstGeom>
          <a:solidFill>
            <a:srgbClr val="DCF2EF"/>
          </a:solidFill>
          <a:ln w="127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9815170" y="3840480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concluído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815170" y="4160520"/>
            <a:ext cx="150510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logs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TRABALHOS CORRELATOS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já existe, e o que falta em cada um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96112" y="2212848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Portais oficiais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8892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CONFIABILIDADE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302666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384048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7822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Espalhado em dezenas de sites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489204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SENSÍVEL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512978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precisa coletar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35858" y="196596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3691890" y="2212848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Buscadores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91890" y="278892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CONFIABILIDADE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691890" y="302666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 muito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691890" y="384048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3691890" y="407822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Imediato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691890" y="489204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SENSÍVEL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3691890" y="512978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a pesquisa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31636" y="196596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6487668" y="2212848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Apps de sintomas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87668" y="278892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CONFIABILIDADE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6487668" y="302666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87668" y="384048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6487668" y="407822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487668" y="489204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SENSÍVEL</a:t>
            </a:r>
            <a:endParaRPr lang="en-US" sz="800" dirty="0"/>
          </a:p>
        </p:txBody>
      </p:sp>
      <p:sp>
        <p:nvSpPr>
          <p:cNvPr id="27" name="Text 25"/>
          <p:cNvSpPr txBox="1"/>
          <p:nvPr/>
        </p:nvSpPr>
        <p:spPr>
          <a:xfrm>
            <a:off x="6487668" y="512978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sintomas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9027414" y="1965960"/>
            <a:ext cx="2521458" cy="3931920"/>
          </a:xfrm>
          <a:prstGeom prst="roundRect">
            <a:avLst>
              <a:gd name="adj" fmla="val 2901"/>
            </a:avLst>
          </a:prstGeom>
          <a:solidFill>
            <a:srgbClr val="E7EDFD"/>
          </a:solidFill>
          <a:ln w="254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9283446" y="2212848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 In Sight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283446" y="278892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CONFIABILIDADE</a:t>
            </a:r>
            <a:endParaRPr lang="en-US" sz="800" dirty="0"/>
          </a:p>
        </p:txBody>
      </p:sp>
      <p:sp>
        <p:nvSpPr>
          <p:cNvPr id="31" name="Text 29"/>
          <p:cNvSpPr txBox="1"/>
          <p:nvPr/>
        </p:nvSpPr>
        <p:spPr>
          <a:xfrm>
            <a:off x="9283446" y="302666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sempre citada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9283446" y="384048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ACESSO</a:t>
            </a:r>
            <a:endParaRPr lang="en-US" sz="800" dirty="0"/>
          </a:p>
        </p:txBody>
      </p:sp>
      <p:sp>
        <p:nvSpPr>
          <p:cNvPr id="33" name="Text 31"/>
          <p:cNvSpPr txBox="1"/>
          <p:nvPr/>
        </p:nvSpPr>
        <p:spPr>
          <a:xfrm>
            <a:off x="9283446" y="407822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sintoma ou por condição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9283446" y="4892040"/>
            <a:ext cx="200939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 SENSÍVEL</a:t>
            </a:r>
            <a:endParaRPr lang="en-US" sz="800" dirty="0"/>
          </a:p>
        </p:txBody>
      </p:sp>
      <p:sp>
        <p:nvSpPr>
          <p:cNvPr id="35" name="Text 33"/>
          <p:cNvSpPr txBox="1"/>
          <p:nvPr/>
        </p:nvSpPr>
        <p:spPr>
          <a:xfrm>
            <a:off x="9283446" y="5129784"/>
            <a:ext cx="200939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não são gravados; guardar material pede consentimento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FUNDAMENTAÇÃO TEÓRICA E REQUISITOS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requisitos e a norma de onde cada um saiu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2943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60120" y="233172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 9106  ·  IETF, 2021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69748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guardada só como hash Argon2id, com os parâmetros de custo recomendados.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54496" y="2011680"/>
            <a:ext cx="52943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574536" y="233172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RFC 6238  ·  IETF, 2011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74536" y="269748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em duas etapas. O segredo fica no celular; no site só se digita o código de seis dígitos.</a:t>
            </a:r>
            <a:r>
              <a:rPr lang="en-US" sz="1500" dirty="0" err="1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2943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60120" y="438912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LGPD  ·  Lei 13.709/2018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75488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Coletar o mínimo, pedir consentimento por finalidade e deixar exportar e excluir os dados.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54496" y="4069080"/>
            <a:ext cx="5294376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6574536" y="4389120"/>
            <a:ext cx="4654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OMS  ·  Infodemic management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4754880"/>
            <a:ext cx="4654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conteúdo com fonte oficial citada, para não alimentar a infodemia.</a:t>
            </a:r>
            <a:r>
              <a:rPr lang="en-US" sz="1500" dirty="0" err="1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5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METODOLOGIA E ARQUITETURA</a:t>
            </a:r>
            <a:endParaRPr lang="en-US" sz="110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em MVT, banco separado da aplicação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5400">
            <a:solidFill>
              <a:srgbClr val="0F14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Navegador</a:t>
            </a:r>
            <a:endParaRPr lang="en-US" sz="1700"/>
          </a:p>
        </p:txBody>
      </p:sp>
      <p:sp>
        <p:nvSpPr>
          <p:cNvPr id="6" name="Text 4"/>
          <p:cNvSpPr txBox="1"/>
          <p:nvPr/>
        </p:nvSpPr>
        <p:spPr>
          <a:xfrm>
            <a:off x="64008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usuário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4722876" y="2057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5400">
            <a:solidFill>
              <a:srgbClr val="0F14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722876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700"/>
          </a:p>
        </p:txBody>
      </p:sp>
      <p:sp>
        <p:nvSpPr>
          <p:cNvPr id="9" name="Text 7"/>
          <p:cNvSpPr txBox="1"/>
          <p:nvPr/>
        </p:nvSpPr>
        <p:spPr>
          <a:xfrm>
            <a:off x="4722876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Gunicorn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8805672" y="2057400"/>
            <a:ext cx="27432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5400">
            <a:solidFill>
              <a:srgbClr val="0F142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805672" y="2286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Aiven</a:t>
            </a:r>
            <a:endParaRPr lang="en-US" sz="1700"/>
          </a:p>
        </p:txBody>
      </p:sp>
      <p:sp>
        <p:nvSpPr>
          <p:cNvPr id="12" name="Text 10"/>
          <p:cNvSpPr txBox="1"/>
          <p:nvPr/>
        </p:nvSpPr>
        <p:spPr>
          <a:xfrm>
            <a:off x="8805672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</a:t>
            </a:r>
            <a:endParaRPr lang="en-US" sz="1200"/>
          </a:p>
        </p:txBody>
      </p:sp>
      <p:sp>
        <p:nvSpPr>
          <p:cNvPr id="13" name="Text 11"/>
          <p:cNvSpPr txBox="1"/>
          <p:nvPr/>
        </p:nvSpPr>
        <p:spPr>
          <a:xfrm>
            <a:off x="3291840" y="2212848"/>
            <a:ext cx="1522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 · TLS 1.3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3566160" y="2606040"/>
            <a:ext cx="973836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374636" y="2212848"/>
            <a:ext cx="15224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 + certificado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7648956" y="2606040"/>
            <a:ext cx="973836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0080" y="3657600"/>
            <a:ext cx="342290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14400" y="393192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MVT</a:t>
            </a:r>
            <a:endParaRPr lang="en-US" sz="1500"/>
          </a:p>
        </p:txBody>
      </p:sp>
      <p:sp>
        <p:nvSpPr>
          <p:cNvPr id="19" name="Text 17"/>
          <p:cNvSpPr txBox="1"/>
          <p:nvPr/>
        </p:nvSpPr>
        <p:spPr>
          <a:xfrm>
            <a:off x="914400" y="4315968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MVC do Django. A View faz o papel do Controller; o Template faz o papel da View.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383024" y="3657600"/>
            <a:ext cx="342290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 txBox="1"/>
          <p:nvPr/>
        </p:nvSpPr>
        <p:spPr>
          <a:xfrm>
            <a:off x="4657344" y="393192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relacional no MySQL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657344" y="4315968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Calibri"/>
                <a:ea typeface="Calibri"/>
                <a:cs typeface="Calibri"/>
              </a:rPr>
              <a:t>15 tabelas com chave primária, chave estrangeira e campos únicos. A estrutura é escrita em Python e aplicada com o migrate.</a:t>
            </a:r>
          </a:p>
        </p:txBody>
      </p:sp>
      <p:sp>
        <p:nvSpPr>
          <p:cNvPr id="23" name="Shape 21"/>
          <p:cNvSpPr/>
          <p:nvPr/>
        </p:nvSpPr>
        <p:spPr>
          <a:xfrm>
            <a:off x="8125968" y="3657600"/>
            <a:ext cx="3422904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8400288" y="3931920"/>
            <a:ext cx="287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externa</a:t>
            </a:r>
            <a:endParaRPr lang="en-US" sz="1500"/>
          </a:p>
        </p:txBody>
      </p:sp>
      <p:sp>
        <p:nvSpPr>
          <p:cNvPr id="25" name="Text 23"/>
          <p:cNvSpPr txBox="1"/>
          <p:nvPr/>
        </p:nvSpPr>
        <p:spPr>
          <a:xfrm>
            <a:off x="8400288" y="4315968"/>
            <a:ext cx="2874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HTTP do Brevo para o e-mail de recuperação de senha. A chave vem de variável de ambiente, e o .env nunca entra no repositório.</a:t>
            </a:r>
            <a:endParaRPr lang="en-US" sz="1300"/>
          </a:p>
        </p:txBody>
      </p:sp>
      <p:sp>
        <p:nvSpPr>
          <p:cNvPr id="26" name="Text 24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/>
          </a:p>
        </p:txBody>
      </p:sp>
      <p:sp>
        <p:nvSpPr>
          <p:cNvPr id="27" name="Text 25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11</a:t>
            </a:r>
            <a:endParaRPr lang="en-US" sz="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TECNOLOGIAS UTILIZADAS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pilha do projeto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96112" y="226771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3.12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67004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35858" y="201168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691890" y="226771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5.2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691890" y="267004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web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31636" y="201168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6487668" y="226771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487668" y="267004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27414" y="201168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283446" y="226771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Aiven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9283446" y="267004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do banco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42900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896112" y="368503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408736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Hospedagem da aplicação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35858" y="342900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3691890" y="368503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Argon2id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691890" y="408736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de senhas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31636" y="342900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 txBox="1"/>
          <p:nvPr/>
        </p:nvSpPr>
        <p:spPr>
          <a:xfrm>
            <a:off x="6487668" y="368503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django-otp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487668" y="408736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fator TOTP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027414" y="342900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 txBox="1"/>
          <p:nvPr/>
        </p:nvSpPr>
        <p:spPr>
          <a:xfrm>
            <a:off x="9283446" y="368503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django-axes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83446" y="408736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por força bruta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484632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896112" y="510235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AES-256-GCM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" y="550468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Cifragem em repouso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435858" y="484632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3691890" y="510235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Brevo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3691890" y="550468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e-mail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231636" y="484632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6487668" y="510235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WhiteNoise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487668" y="550468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estáticos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9027414" y="4846320"/>
            <a:ext cx="252145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 txBox="1"/>
          <p:nvPr/>
        </p:nvSpPr>
        <p:spPr>
          <a:xfrm>
            <a:off x="9283446" y="5102352"/>
            <a:ext cx="200939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· GitHub</a:t>
            </a:r>
            <a:endParaRPr lang="en-US" sz="1700" dirty="0"/>
          </a:p>
        </p:txBody>
      </p:sp>
      <p:sp>
        <p:nvSpPr>
          <p:cNvPr id="39" name="Text 37"/>
          <p:cNvSpPr txBox="1"/>
          <p:nvPr/>
        </p:nvSpPr>
        <p:spPr>
          <a:xfrm>
            <a:off x="9283446" y="5504688"/>
            <a:ext cx="20093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do código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 PRODUTO  ·  DEMONSTRAÇÃO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67004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conta: o aviso de privacidade aparece e a senha 123456 é recusada.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3024" y="210312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4657344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57344" y="267004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Ativar a verificação em duas etapas lendo o QR Code no celular.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5968" y="210312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8400288" y="23317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400288" y="267004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e entrar de novo. A senha correta para na tela do código, sem criar sessão.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 txBox="1"/>
          <p:nvPr/>
        </p:nvSpPr>
        <p:spPr>
          <a:xfrm>
            <a:off x="914400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59028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Errar a senha cinco vezes. A sexta tentativa cai na tela de bloqueio.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3024" y="402336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 txBox="1"/>
          <p:nvPr/>
        </p:nvSpPr>
        <p:spPr>
          <a:xfrm>
            <a:off x="4657344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57344" y="459028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sintomas: febre e tosse listam condições com fonte; falta de ar manda procurar atendimento.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5968" y="4023360"/>
            <a:ext cx="3422904" cy="1645920"/>
          </a:xfrm>
          <a:prstGeom prst="roundRect">
            <a:avLst>
              <a:gd name="adj" fmla="val 4444"/>
            </a:avLst>
          </a:prstGeom>
          <a:solidFill>
            <a:srgbClr val="15223A"/>
          </a:solidFill>
          <a:ln w="12700">
            <a:solidFill>
              <a:srgbClr val="24344F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8400288" y="4251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EC7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400288" y="4590288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Meus dados: ver o consentimento, exportar em JSON, revogar e excluir a conta.</a:t>
            </a:r>
            <a:r>
              <a:rPr lang="en-US" sz="1400" dirty="0" err="1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r>
              <a:rPr lang="en-US" sz="1400" dirty="0">
                <a:solidFill>
                  <a:srgbClr val="CC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93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TESTES E RESULTADOS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foi testado, e a evidência no banco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701041" y="2717321"/>
            <a:ext cx="5394960" cy="2037559"/>
          </a:xfrm>
          <a:prstGeom prst="roundRect">
            <a:avLst>
              <a:gd name="adj" fmla="val 4103"/>
            </a:avLst>
          </a:prstGeom>
          <a:solidFill>
            <a:srgbClr val="FBF0DD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1021081" y="3178834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C2D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Testamos senha, dois fatores, sessão, bloqueio, cadastro, direitos do titular e trilha de auditoria. </a:t>
            </a:r>
            <a:r>
              <a:rPr lang="en-US" sz="1400" dirty="0">
                <a:solidFill>
                  <a:srgbClr val="7C3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cada push, o GitHub Actions roda TruffleHog, Trivy e CodeQL.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2012400"/>
            <a:ext cx="5102352" cy="228600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9" name="Picture 18" descr="hashes_reais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400" y="2466000"/>
            <a:ext cx="4644000" cy="1489950"/>
          </a:xfrm>
          <a:prstGeom prst="rect">
            <a:avLst/>
          </a:prstGeom>
        </p:spPr>
      </p:pic>
      <p:sp>
        <p:nvSpPr>
          <p:cNvPr id="10" name="Text 8"/>
          <p:cNvSpPr txBox="1"/>
          <p:nvPr/>
        </p:nvSpPr>
        <p:spPr>
          <a:xfrm>
            <a:off x="6675120" y="2194560"/>
            <a:ext cx="4645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real do banco: coluna de senhas (e-mails e nomes cortados)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46520" y="4480560"/>
            <a:ext cx="5102352" cy="1234440"/>
          </a:xfrm>
          <a:prstGeom prst="roundRect">
            <a:avLst>
              <a:gd name="adj" fmla="val 5926"/>
            </a:avLst>
          </a:prstGeom>
          <a:solidFill>
            <a:srgbClr val="FBF0DD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6675120" y="4754880"/>
            <a:ext cx="4645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C3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formato e mesmos parâmetros em todas, </a:t>
            </a:r>
            <a:r>
              <a:rPr lang="en-US" sz="1400" b="1" dirty="0">
                <a:solidFill>
                  <a:srgbClr val="5C2D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 cada hash é diferente</a:t>
            </a:r>
            <a:r>
              <a:rPr lang="en-US" sz="1400" dirty="0">
                <a:solidFill>
                  <a:srgbClr val="7C3D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É o salt único gerado a cada cadastro.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CONCLUSÃO E TRABALHOS FUTUROS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ficou pronto, e o que fica para depois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71516" cy="3931920"/>
          </a:xfrm>
          <a:prstGeom prst="roundRect">
            <a:avLst>
              <a:gd name="adj" fmla="val 1860"/>
            </a:avLst>
          </a:prstGeom>
          <a:solidFill>
            <a:srgbClr val="DCF2EF"/>
          </a:solidFill>
          <a:ln w="25400">
            <a:solidFill>
              <a:srgbClr val="0F766E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1005840" y="224028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Entregue e publicado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743200"/>
            <a:ext cx="45399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em Argon2id e login em duas etapas com TOTP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Recuperação de senha por link de uso único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Bloqueio após cinco senhas erradas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Segredo do 2FA cifrado com AES-256-GCM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por sintomas com fonte oficial e sinal de alerta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por finalidade, exportação e exclusão de dados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de auditoria encadeada e esteira DevSecOps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77356" y="1965960"/>
            <a:ext cx="5271516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25400">
            <a:solidFill>
              <a:srgbClr val="D7DEE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6643116" y="2240280"/>
            <a:ext cx="4539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Trabalhos futuros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43116" y="2743200"/>
            <a:ext cx="4539996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Ampliar o acervo com mais condições e fontes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quem guardou um material quando a fonte muda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prazo de retenção da trilha de auditoria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Guardar os logs também fora do nosso servidor</a:t>
            </a:r>
            <a:endParaRPr lang="en-US" sz="14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Códigos de recuperação para quem perder o celular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1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75488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2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AGRADECIMENTOS E REFERÊNCIAS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Obrigado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BIRYUKOV, A. et al. </a:t>
            </a: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 Memory-Hard Function for Password Hashing and Proof-of-Work Applications. RFC 9106. IETF, 2021.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M'RAIHI, D. et al. </a:t>
            </a: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TOTP: Time-Based One-Time Password Algorithm. RFC 6238. IETF, 2011.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BRASIL. </a:t>
            </a: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13.709, de 14 de agosto de 2018. Lei Geral de Proteção de Dados Pessoais.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ORGANIZAÇÃO MUNDIAL DA SAÚDE. </a:t>
            </a: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Infodemic management.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01927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F1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IESS. </a:t>
            </a:r>
            <a:r>
              <a:rPr lang="en-US" sz="1400" dirty="0">
                <a:solidFill>
                  <a:srgbClr val="3D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em cada dez brasileiros dizem buscar informações sobre saúde na internet.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5627442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0C1628"/>
          </a:solidFill>
          <a:ln w="12700">
            <a:solidFill>
              <a:srgbClr val="0C162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960118" y="5741742"/>
            <a:ext cx="5587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</a:t>
            </a:r>
            <a:r>
              <a:rPr lang="en-US" sz="1400" dirty="0" err="1">
                <a:solidFill>
                  <a:srgbClr val="8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Guilheslherme</a:t>
            </a:r>
            <a:r>
              <a:rPr lang="en-US" sz="1400" dirty="0">
                <a:solidFill>
                  <a:srgbClr val="8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lang="en-US" sz="1400" dirty="0" err="1">
                <a:solidFill>
                  <a:srgbClr val="8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projeto_politicas_seguranca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 In Sight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7891272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A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11</a:t>
            </a:r>
            <a:endParaRPr lang="en-US" sz="900" dirty="0"/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id="{5EF26E28-7A09-B007-D1A3-856026C47B49}"/>
              </a:ext>
            </a:extLst>
          </p:cNvPr>
          <p:cNvSpPr/>
          <p:nvPr/>
        </p:nvSpPr>
        <p:spPr>
          <a:xfrm>
            <a:off x="640080" y="4846536"/>
            <a:ext cx="10908792" cy="594360"/>
          </a:xfrm>
          <a:prstGeom prst="roundRect">
            <a:avLst>
              <a:gd name="adj" fmla="val 9231"/>
            </a:avLst>
          </a:prstGeom>
          <a:solidFill>
            <a:srgbClr val="0C1628"/>
          </a:solidFill>
          <a:ln w="12700">
            <a:solidFill>
              <a:srgbClr val="0C1628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6B6D9659-163B-5247-6554-2CB746FC44FE}"/>
              </a:ext>
            </a:extLst>
          </p:cNvPr>
          <p:cNvSpPr txBox="1"/>
          <p:nvPr/>
        </p:nvSpPr>
        <p:spPr>
          <a:xfrm>
            <a:off x="960119" y="4958895"/>
            <a:ext cx="558732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8FB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https://projeto-politicas-seguranca.onrender.com/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1238</Words>
  <Application>Microsoft Office PowerPoint</Application>
  <PresentationFormat>Widescreen</PresentationFormat>
  <Paragraphs>209</Paragraphs>
  <Slides>11</Slides>
  <Notes>11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 Sight</dc:title>
  <dc:subject>PptxGenJS Presentation</dc:subject>
  <dc:creator>Guilherme Bonifacio, Cassiano Jesus da Silva, Yan Baumgarten Costa</dc:creator>
  <cp:lastModifiedBy>Cassiano Jesus</cp:lastModifiedBy>
  <cp:revision>3</cp:revision>
  <dcterms:created xsi:type="dcterms:W3CDTF">2026-09-17T23:44:22Z</dcterms:created>
  <dcterms:modified xsi:type="dcterms:W3CDTF">2026-09-25T00:52:41Z</dcterms:modified>
</cp:coreProperties>
</file>