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880042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800000" cy="360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10224000"/>
            <a:ext cx="23580000" cy="1584000"/>
          </a:xfrm>
          <a:prstGeom prst="rect">
            <a:avLst/>
          </a:prstGeom>
          <a:noFill/>
        </p:spPr>
        <p:txBody>
          <a:bodyPr wrap="square" lIns="43200" tIns="43200" rIns="43200" bIns="4320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3B2B7D"/>
                </a:solidFill>
                <a:latin typeface="Arial"/>
              </a:rPr>
              <a:t>Health In Sight: portal de informação em saúde com autenticação segura e conformidade com a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44000"/>
            <a:ext cx="23580000" cy="1188000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262038"/>
                </a:solidFill>
                <a:latin typeface="Arial"/>
              </a:rPr>
              <a:t>Cassiano Jesus Silva, Guilherme da Silva Bonifácio, Yan Baumgarten Costa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400" b="0">
                <a:solidFill>
                  <a:srgbClr val="262038"/>
                </a:solidFill>
                <a:latin typeface="Arial"/>
              </a:rPr>
              <a:t>Orientador: Prof. Dr. Fabiano Bezerra Menegidio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>
                <a:solidFill>
                  <a:srgbClr val="554E68"/>
                </a:solidFill>
                <a:latin typeface="Arial"/>
              </a:rPr>
              <a:t>Sistemas de Informação · Universidade de Mogi das Cruzes (UMC)</a:t>
            </a:r>
          </a:p>
        </p:txBody>
      </p:sp>
      <p:pic>
        <p:nvPicPr>
          <p:cNvPr id="5" name="Picture 4" descr="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8000" y="10296000"/>
            <a:ext cx="2015999" cy="2015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308000" y="12330000"/>
            <a:ext cx="2736000" cy="360000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3B2B7D"/>
                </a:solidFill>
                <a:latin typeface="Arial"/>
              </a:rPr>
              <a:t>Acesse o 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3392000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INTRODUÇÃO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3986000"/>
            <a:ext cx="8758800" cy="2015999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 b="0">
                <a:solidFill>
                  <a:srgbClr val="262038"/>
                </a:solidFill>
                <a:latin typeface="Arial"/>
              </a:rPr>
              <a:t>Quem pesquisa um sintoma na internet encontra muito conteúdo sem fonte e listas que parecem dar um diagnóstico. E o que a pessoa pesquisa sobre saúde é dado sensível pela LGPD (art. 5º, II). Por isso, criamos um portal com fontes oficiais e com segurança desde o começo (OWASP, 2021).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16110000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16704000"/>
            <a:ext cx="8758800" cy="1872000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 b="0">
                <a:solidFill>
                  <a:srgbClr val="262038"/>
                </a:solidFill>
                <a:latin typeface="Arial"/>
              </a:rPr>
              <a:t>Desenvolver um portal web informativo de saúde, que não faz diagnóstico, com autenticação em duas etapas, criptografia dos dados, recuperação segura de senha, trilha de auditoria e respeito aos direitos do titular previstos na LGPD.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18684000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METODOLOGIA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19278000"/>
            <a:ext cx="8758800" cy="3816000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 b="1">
                <a:solidFill>
                  <a:srgbClr val="3B2B7D"/>
                </a:solidFill>
                <a:latin typeface="Arial"/>
              </a:rPr>
              <a:t>• </a:t>
            </a:r>
            <a:r>
              <a:rPr sz="2200" b="0">
                <a:solidFill>
                  <a:srgbClr val="262038"/>
                </a:solidFill>
                <a:latin typeface="Arial"/>
              </a:rPr>
              <a:t>Levantamos os requisitos funcionais e não funcionais a partir do checklist da disciplina.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 b="1">
                <a:solidFill>
                  <a:srgbClr val="3B2B7D"/>
                </a:solidFill>
                <a:latin typeface="Arial"/>
              </a:rPr>
              <a:t>• </a:t>
            </a:r>
            <a:r>
              <a:rPr sz="2200" b="0">
                <a:solidFill>
                  <a:srgbClr val="262038"/>
                </a:solidFill>
                <a:latin typeface="Arial"/>
              </a:rPr>
              <a:t>Desenvolvemos em Python 3.12 e Django 5.2, com MySQL 8 no Aiven e hospedagem no Render.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 b="1">
                <a:solidFill>
                  <a:srgbClr val="3B2B7D"/>
                </a:solidFill>
                <a:latin typeface="Arial"/>
              </a:rPr>
              <a:t>• </a:t>
            </a:r>
            <a:r>
              <a:rPr sz="2200" b="0">
                <a:solidFill>
                  <a:srgbClr val="262038"/>
                </a:solidFill>
                <a:latin typeface="Arial"/>
              </a:rPr>
              <a:t>Analisamos as ameaças com o modelo STRIDE e montamos uma matriz de riscos.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 b="1">
                <a:solidFill>
                  <a:srgbClr val="3B2B7D"/>
                </a:solidFill>
                <a:latin typeface="Arial"/>
              </a:rPr>
              <a:t>• </a:t>
            </a:r>
            <a:r>
              <a:rPr sz="2200" b="0">
                <a:solidFill>
                  <a:srgbClr val="262038"/>
                </a:solidFill>
                <a:latin typeface="Arial"/>
              </a:rPr>
              <a:t>Organizamos as tarefas em Kanban e entregamos o projeto em versões (releases) no GitHub.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 b="1">
                <a:solidFill>
                  <a:srgbClr val="3B2B7D"/>
                </a:solidFill>
                <a:latin typeface="Arial"/>
              </a:rPr>
              <a:t>• </a:t>
            </a:r>
            <a:r>
              <a:rPr sz="2200" b="0">
                <a:solidFill>
                  <a:srgbClr val="262038"/>
                </a:solidFill>
                <a:latin typeface="Arial"/>
              </a:rPr>
              <a:t>Testamos com </a:t>
            </a:r>
            <a:r>
              <a:rPr lang="pt-BR" sz="2200" b="0">
                <a:solidFill>
                  <a:srgbClr val="262038"/>
                </a:solidFill>
                <a:latin typeface="Arial"/>
              </a:rPr>
              <a:t>146 testes automatizados</a:t>
            </a:r>
            <a:r>
              <a:rPr sz="2200" b="0">
                <a:solidFill>
                  <a:srgbClr val="262038"/>
                </a:solidFill>
                <a:latin typeface="Arial"/>
              </a:rPr>
              <a:t> e varreduras de segurança a cada commit.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23382000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FLUXO DE AUTENTICAÇÃO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2000" y="23975999"/>
            <a:ext cx="5040000" cy="756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 w="254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200" b="1">
                <a:solidFill>
                  <a:srgbClr val="3B2B7D"/>
                </a:solidFill>
                <a:latin typeface="Arial"/>
              </a:rPr>
              <a:t>1. Cadastro</a:t>
            </a:r>
          </a:p>
          <a:p>
            <a:pPr algn="ctr">
              <a:lnSpc>
                <a:spcPct val="103000"/>
              </a:lnSpc>
            </a:pPr>
            <a:r>
              <a:rPr sz="1800" b="0">
                <a:solidFill>
                  <a:srgbClr val="262038"/>
                </a:solidFill>
                <a:latin typeface="Arial"/>
              </a:rPr>
              <a:t>nome, e-mail, senha e aceite da política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0" y="24948000"/>
            <a:ext cx="5040000" cy="756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 w="254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200" b="1">
                <a:solidFill>
                  <a:srgbClr val="3B2B7D"/>
                </a:solidFill>
                <a:latin typeface="Arial"/>
              </a:rPr>
              <a:t>2. E-mail e senha</a:t>
            </a:r>
          </a:p>
          <a:p>
            <a:pPr algn="ctr">
              <a:lnSpc>
                <a:spcPct val="103000"/>
              </a:lnSpc>
            </a:pPr>
            <a:r>
              <a:rPr sz="1800" b="0">
                <a:solidFill>
                  <a:srgbClr val="262038"/>
                </a:solidFill>
                <a:latin typeface="Arial"/>
              </a:rPr>
              <a:t>conferência do hash Argon2id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91999" y="24732000"/>
            <a:ext cx="0" cy="216000"/>
          </a:xfrm>
          <a:prstGeom prst="line">
            <a:avLst/>
          </a:prstGeom>
          <a:ln w="38100">
            <a:solidFill>
              <a:srgbClr val="7138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2000" y="25920000"/>
            <a:ext cx="5040000" cy="756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 w="254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200" b="1">
                <a:solidFill>
                  <a:srgbClr val="3B2B7D"/>
                </a:solidFill>
                <a:latin typeface="Arial"/>
              </a:rPr>
              <a:t>3. Código TOTP</a:t>
            </a:r>
          </a:p>
          <a:p>
            <a:pPr algn="ctr">
              <a:lnSpc>
                <a:spcPct val="103000"/>
              </a:lnSpc>
            </a:pPr>
            <a:r>
              <a:rPr sz="1800" b="0">
                <a:solidFill>
                  <a:srgbClr val="262038"/>
                </a:solidFill>
                <a:latin typeface="Arial"/>
              </a:rPr>
              <a:t>6 dígitos, se o 2FA estiver ativo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25704000"/>
            <a:ext cx="0" cy="216000"/>
          </a:xfrm>
          <a:prstGeom prst="line">
            <a:avLst/>
          </a:prstGeom>
          <a:ln w="38100">
            <a:solidFill>
              <a:srgbClr val="7138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2000" y="26891999"/>
            <a:ext cx="5040000" cy="756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 w="254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200" b="1">
                <a:solidFill>
                  <a:srgbClr val="3B2B7D"/>
                </a:solidFill>
                <a:latin typeface="Arial"/>
              </a:rPr>
              <a:t>4. Sessão criada</a:t>
            </a:r>
          </a:p>
          <a:p>
            <a:pPr algn="ctr">
              <a:lnSpc>
                <a:spcPct val="103000"/>
              </a:lnSpc>
            </a:pPr>
            <a:r>
              <a:rPr sz="1800" b="0">
                <a:solidFill>
                  <a:srgbClr val="262038"/>
                </a:solidFill>
                <a:latin typeface="Arial"/>
              </a:rPr>
              <a:t>15 min; cookies Secure e HttpOnly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26675999"/>
            <a:ext cx="0" cy="216000"/>
          </a:xfrm>
          <a:prstGeom prst="line">
            <a:avLst/>
          </a:prstGeom>
          <a:ln w="38100">
            <a:solidFill>
              <a:srgbClr val="7138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35999" y="24948000"/>
            <a:ext cx="3322800" cy="75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82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000" b="1">
                <a:solidFill>
                  <a:srgbClr val="A82E64"/>
                </a:solidFill>
                <a:latin typeface="Arial"/>
              </a:rPr>
              <a:t>5 senhas erradas</a:t>
            </a:r>
          </a:p>
          <a:p>
            <a:pPr algn="ctr">
              <a:lnSpc>
                <a:spcPct val="103000"/>
              </a:lnSpc>
            </a:pPr>
            <a:r>
              <a:rPr lang="pt-BR" sz="1700" b="0">
                <a:solidFill>
                  <a:srgbClr val="262038"/>
                </a:solidFill>
                <a:latin typeface="Arial"/>
              </a:rPr>
              <a:t>bloqueio de 5 min, que dobra</a:t>
            </a:r>
            <a:endParaRPr sz="1700" b="0">
              <a:solidFill>
                <a:srgbClr val="262038"/>
              </a:solidFill>
              <a:latin typeface="Arial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012000" y="25325999"/>
            <a:ext cx="323999" cy="0"/>
          </a:xfrm>
          <a:prstGeom prst="line">
            <a:avLst/>
          </a:prstGeom>
          <a:ln w="31750">
            <a:solidFill>
              <a:srgbClr val="A82E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2000" y="27863999"/>
            <a:ext cx="8614800" cy="576000"/>
          </a:xfrm>
          <a:prstGeom prst="roundRect">
            <a:avLst>
              <a:gd name="adj" fmla="val 12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Cada login, erro, uso do 2FA e bloqueio fica registrado na trilha de auditoria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91999" y="27647999"/>
            <a:ext cx="0" cy="216000"/>
          </a:xfrm>
          <a:prstGeom prst="line">
            <a:avLst/>
          </a:prstGeom>
          <a:ln w="38100">
            <a:solidFill>
              <a:srgbClr val="7138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8800" y="13392000"/>
            <a:ext cx="178812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ARQUITETURA DO SISTEMA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8800" y="14544000"/>
            <a:ext cx="2520000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400" b="1">
                <a:solidFill>
                  <a:srgbClr val="3B2B7D"/>
                </a:solidFill>
                <a:latin typeface="Arial"/>
              </a:rPr>
              <a:t>Navegador</a:t>
            </a:r>
          </a:p>
          <a:p>
            <a:pPr algn="ctr">
              <a:lnSpc>
                <a:spcPct val="103000"/>
              </a:lnSpc>
            </a:pPr>
            <a:r>
              <a:rPr sz="1800" b="0">
                <a:solidFill>
                  <a:srgbClr val="262038"/>
                </a:solidFill>
                <a:latin typeface="Arial"/>
              </a:rPr>
              <a:t>visitante ou usuário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482799" y="14058000"/>
            <a:ext cx="7703999" cy="3816000"/>
          </a:xfrm>
          <a:prstGeom prst="roundRect">
            <a:avLst>
              <a:gd name="adj" fmla="val 5000"/>
            </a:avLst>
          </a:prstGeom>
          <a:solidFill>
            <a:srgbClr val="F1ECF7"/>
          </a:solidFill>
          <a:ln w="381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482799" y="14094000"/>
            <a:ext cx="7703999" cy="432000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3B2B7D"/>
                </a:solidFill>
                <a:latin typeface="Arial"/>
              </a:rPr>
              <a:t>Render · aplicação Django 5.2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62799" y="14544000"/>
            <a:ext cx="7343999" cy="57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D6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900" b="1">
                <a:solidFill>
                  <a:srgbClr val="3B2B7D"/>
                </a:solidFill>
                <a:latin typeface="Arial"/>
              </a:rPr>
              <a:t>accounts  </a:t>
            </a:r>
            <a:r>
              <a:rPr sz="1700" b="0">
                <a:solidFill>
                  <a:srgbClr val="262038"/>
                </a:solidFill>
                <a:latin typeface="Arial"/>
              </a:rPr>
              <a:t>Argon2id · 2FA TOTP · AES-256-GCM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62799" y="15192000"/>
            <a:ext cx="7343999" cy="57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D6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900" b="1">
                <a:solidFill>
                  <a:srgbClr val="3B2B7D"/>
                </a:solidFill>
                <a:latin typeface="Arial"/>
              </a:rPr>
              <a:t>django-axes  </a:t>
            </a:r>
            <a:r>
              <a:rPr sz="1700" b="0">
                <a:solidFill>
                  <a:srgbClr val="262038"/>
                </a:solidFill>
                <a:latin typeface="Arial"/>
              </a:rPr>
              <a:t>bloqueio por força bruta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662799" y="15840000"/>
            <a:ext cx="7343999" cy="57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D6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900" b="1">
                <a:solidFill>
                  <a:srgbClr val="3B2B7D"/>
                </a:solidFill>
                <a:latin typeface="Arial"/>
              </a:rPr>
              <a:t>privacy  </a:t>
            </a:r>
            <a:r>
              <a:rPr sz="1700" b="0">
                <a:solidFill>
                  <a:srgbClr val="262038"/>
                </a:solidFill>
                <a:latin typeface="Arial"/>
              </a:rPr>
              <a:t>consentimento e direitos do titular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62799" y="16487999"/>
            <a:ext cx="7343999" cy="57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D6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900" b="1">
                <a:solidFill>
                  <a:srgbClr val="3B2B7D"/>
                </a:solidFill>
                <a:latin typeface="Arial"/>
              </a:rPr>
              <a:t>catalog  </a:t>
            </a:r>
            <a:r>
              <a:rPr sz="1700" b="0">
                <a:solidFill>
                  <a:srgbClr val="262038"/>
                </a:solidFill>
                <a:latin typeface="Arial"/>
              </a:rPr>
              <a:t>sintomas, condições e fontes oficiais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662799" y="17135999"/>
            <a:ext cx="7343999" cy="57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D6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900" b="1">
                <a:solidFill>
                  <a:srgbClr val="3B2B7D"/>
                </a:solidFill>
                <a:latin typeface="Arial"/>
              </a:rPr>
              <a:t>audit  </a:t>
            </a:r>
            <a:r>
              <a:rPr sz="1700" b="0">
                <a:solidFill>
                  <a:srgbClr val="262038"/>
                </a:solidFill>
                <a:latin typeface="Arial"/>
              </a:rPr>
              <a:t>trilha encadeada por SHA-256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130800" y="14544000"/>
            <a:ext cx="3769200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400" b="1">
                <a:solidFill>
                  <a:srgbClr val="3B2B7D"/>
                </a:solidFill>
                <a:latin typeface="Arial"/>
              </a:rPr>
              <a:t>MySQL 8 · Aiven</a:t>
            </a:r>
          </a:p>
          <a:p>
            <a:pPr algn="ctr">
              <a:lnSpc>
                <a:spcPct val="103000"/>
              </a:lnSpc>
            </a:pPr>
            <a:r>
              <a:rPr sz="1800" b="0">
                <a:solidFill>
                  <a:srgbClr val="262038"/>
                </a:solidFill>
                <a:latin typeface="Arial"/>
              </a:rPr>
              <a:t>contas, consentimentos, materiais e trilhas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538800" y="15444000"/>
            <a:ext cx="1943999" cy="0"/>
          </a:xfrm>
          <a:prstGeom prst="line">
            <a:avLst/>
          </a:prstGeom>
          <a:ln w="38100">
            <a:solidFill>
              <a:srgbClr val="7138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538800" y="14580000"/>
            <a:ext cx="1944000" cy="792000"/>
          </a:xfrm>
          <a:prstGeom prst="rect">
            <a:avLst/>
          </a:prstGeom>
          <a:noFill/>
        </p:spPr>
        <p:txBody>
          <a:bodyPr wrap="square" lIns="43200" tIns="43200" rIns="43200" bIns="43200" anchor="b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71388D"/>
                </a:solidFill>
                <a:latin typeface="Arial"/>
              </a:rPr>
              <a:t>HTTPS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62038"/>
                </a:solidFill>
                <a:latin typeface="Arial"/>
              </a:rPr>
              <a:t>TLS 1.3 · HSTS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186800" y="15444000"/>
            <a:ext cx="1944000" cy="0"/>
          </a:xfrm>
          <a:prstGeom prst="line">
            <a:avLst/>
          </a:prstGeom>
          <a:ln w="38100">
            <a:solidFill>
              <a:srgbClr val="7138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2186800" y="14580000"/>
            <a:ext cx="1944000" cy="792000"/>
          </a:xfrm>
          <a:prstGeom prst="rect">
            <a:avLst/>
          </a:prstGeom>
          <a:noFill/>
        </p:spPr>
        <p:txBody>
          <a:bodyPr wrap="square" lIns="43200" tIns="43200" rIns="43200" bIns="43200" anchor="b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71388D"/>
                </a:solidFill>
                <a:latin typeface="Arial"/>
              </a:rPr>
              <a:t>TLS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62038"/>
                </a:solidFill>
                <a:latin typeface="Arial"/>
              </a:rPr>
              <a:t>obrigatório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18800" y="16902000"/>
            <a:ext cx="4176000" cy="9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6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000" b="1">
                <a:solidFill>
                  <a:srgbClr val="3B2B7D"/>
                </a:solidFill>
                <a:latin typeface="Arial"/>
              </a:rPr>
              <a:t>Brevo</a:t>
            </a:r>
          </a:p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262038"/>
                </a:solidFill>
                <a:latin typeface="Arial"/>
              </a:rPr>
              <a:t>e-mail de recuperação de senha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4194800" y="17388000"/>
            <a:ext cx="287999" cy="0"/>
          </a:xfrm>
          <a:prstGeom prst="line">
            <a:avLst/>
          </a:prstGeom>
          <a:ln w="27940">
            <a:solidFill>
              <a:srgbClr val="554E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2474800" y="16902000"/>
            <a:ext cx="5425200" cy="9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6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000" b="1">
                <a:solidFill>
                  <a:srgbClr val="3B2B7D"/>
                </a:solidFill>
                <a:latin typeface="Arial"/>
              </a:rPr>
              <a:t>GitHub Actions</a:t>
            </a:r>
          </a:p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262038"/>
                </a:solidFill>
                <a:latin typeface="Arial"/>
              </a:rPr>
              <a:t>TruffleHog · Trivy · CodeQL → deploy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22186800" y="17388000"/>
            <a:ext cx="288000" cy="0"/>
          </a:xfrm>
          <a:prstGeom prst="line">
            <a:avLst/>
          </a:prstGeom>
          <a:ln w="27940">
            <a:solidFill>
              <a:srgbClr val="554E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018800" y="18054000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COMO FUNCIONA A CONSULTA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18800" y="18828000"/>
            <a:ext cx="1800000" cy="1152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 w="254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000" b="1">
                <a:solidFill>
                  <a:srgbClr val="3B2B7D"/>
                </a:solidFill>
                <a:latin typeface="Arial"/>
              </a:rPr>
              <a:t>Marca os</a:t>
            </a:r>
          </a:p>
          <a:p>
            <a:pPr algn="ctr">
              <a:lnSpc>
                <a:spcPct val="103000"/>
              </a:lnSpc>
            </a:pPr>
            <a:r>
              <a:rPr sz="2000" b="1">
                <a:solidFill>
                  <a:srgbClr val="3B2B7D"/>
                </a:solidFill>
                <a:latin typeface="Arial"/>
              </a:rPr>
              <a:t>sintomas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214800" y="18828000"/>
            <a:ext cx="1944000" cy="115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82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900" b="1">
                <a:solidFill>
                  <a:srgbClr val="A82E64"/>
                </a:solidFill>
                <a:latin typeface="Arial"/>
              </a:rPr>
              <a:t>Algum é sinal</a:t>
            </a:r>
          </a:p>
          <a:p>
            <a:pPr algn="ctr">
              <a:lnSpc>
                <a:spcPct val="103000"/>
              </a:lnSpc>
            </a:pPr>
            <a:r>
              <a:rPr sz="1900" b="1">
                <a:solidFill>
                  <a:srgbClr val="A82E64"/>
                </a:solidFill>
                <a:latin typeface="Arial"/>
              </a:rPr>
              <a:t>de alerta?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818800" y="19404000"/>
            <a:ext cx="396000" cy="0"/>
          </a:xfrm>
          <a:prstGeom prst="line">
            <a:avLst/>
          </a:prstGeom>
          <a:ln w="38100">
            <a:solidFill>
              <a:srgbClr val="7138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4806799" y="18648000"/>
            <a:ext cx="3970800" cy="612000"/>
          </a:xfrm>
          <a:prstGeom prst="roundRect">
            <a:avLst>
              <a:gd name="adj" fmla="val 12000"/>
            </a:avLst>
          </a:prstGeom>
          <a:solidFill>
            <a:srgbClr val="A82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Sim: procure atendimento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806799" y="19368000"/>
            <a:ext cx="3970800" cy="792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 w="25400">
            <a:solidFill>
              <a:srgbClr val="713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1800" b="1">
                <a:solidFill>
                  <a:srgbClr val="3B2B7D"/>
                </a:solidFill>
                <a:latin typeface="Arial"/>
              </a:rPr>
              <a:t>Não: </a:t>
            </a:r>
            <a:r>
              <a:rPr sz="1800" b="0">
                <a:solidFill>
                  <a:srgbClr val="262038"/>
                </a:solidFill>
                <a:latin typeface="Arial"/>
              </a:rPr>
              <a:t>condições em ordem</a:t>
            </a:r>
          </a:p>
          <a:p>
            <a:pPr algn="ctr">
              <a:lnSpc>
                <a:spcPct val="103000"/>
              </a:lnSpc>
            </a:pPr>
            <a:r>
              <a:rPr sz="1800" b="0">
                <a:solidFill>
                  <a:srgbClr val="262038"/>
                </a:solidFill>
                <a:latin typeface="Arial"/>
              </a:rPr>
              <a:t>alfabética, com a fonte oficial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4158800" y="18954000"/>
            <a:ext cx="647999" cy="198000"/>
          </a:xfrm>
          <a:prstGeom prst="line">
            <a:avLst/>
          </a:prstGeom>
          <a:ln w="31750">
            <a:solidFill>
              <a:srgbClr val="A82E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4158800" y="19656000"/>
            <a:ext cx="647999" cy="108000"/>
          </a:xfrm>
          <a:prstGeom prst="line">
            <a:avLst/>
          </a:prstGeom>
          <a:ln w="38100">
            <a:solidFill>
              <a:srgbClr val="7138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018800" y="20232000"/>
            <a:ext cx="8758800" cy="468000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262038"/>
                </a:solidFill>
                <a:latin typeface="Arial"/>
              </a:rPr>
              <a:t>Sinais de alerta interrompem a busca. Nada do que é marcado fica gravado.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18800" y="20808000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MECANISMOS DE SEGURANÇA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320986"/>
              </p:ext>
            </p:extLst>
          </p:nvPr>
        </p:nvGraphicFramePr>
        <p:xfrm>
          <a:off x="10018800" y="21402000"/>
          <a:ext cx="8758799" cy="37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8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Requisito</a:t>
                      </a:r>
                    </a:p>
                  </a:txBody>
                  <a:tcPr marL="79200" marR="79200" marT="21600" marB="21600" anchor="ctr">
                    <a:solidFill>
                      <a:srgbClr val="3B2B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Como fizemos</a:t>
                      </a:r>
                    </a:p>
                  </a:txBody>
                  <a:tcPr marL="79200" marR="79200" marT="21600" marB="21600" anchor="ctr">
                    <a:solidFill>
                      <a:srgbClr val="3B2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B2B7D"/>
                          </a:solidFill>
                          <a:latin typeface="Arial"/>
                        </a:rPr>
                        <a:t>Hash de senha</a:t>
                      </a:r>
                    </a:p>
                  </a:txBody>
                  <a:tcPr marL="79200" marR="79200" marT="21600" marB="21600" anchor="ctr">
                    <a:solidFill>
                      <a:srgbClr val="F1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038"/>
                          </a:solidFill>
                          <a:latin typeface="Arial"/>
                        </a:rPr>
                        <a:t>Argon2id (64 MiB, t = 3, p = 2) e salt único (RFC 9106)</a:t>
                      </a:r>
                    </a:p>
                  </a:txBody>
                  <a:tcPr marL="79200" marR="79200" marT="21600" marB="21600" anchor="ctr">
                    <a:solidFill>
                      <a:srgbClr val="F1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B2B7D"/>
                          </a:solidFill>
                          <a:latin typeface="Arial"/>
                        </a:rPr>
                        <a:t>Segundo fator</a:t>
                      </a:r>
                    </a:p>
                  </a:txBody>
                  <a:tcPr marL="79200" marR="79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038"/>
                          </a:solidFill>
                          <a:latin typeface="Arial"/>
                        </a:rPr>
                        <a:t>código TOTP de 6 dígitos (RFC 6238); segredo cifrado em AES-256-GCM</a:t>
                      </a:r>
                    </a:p>
                  </a:txBody>
                  <a:tcPr marL="79200" marR="792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B2B7D"/>
                          </a:solidFill>
                          <a:latin typeface="Arial"/>
                        </a:rPr>
                        <a:t>Sessão e bloqueio</a:t>
                      </a:r>
                    </a:p>
                  </a:txBody>
                  <a:tcPr marL="79200" marR="79200" marT="21600" marB="21600" anchor="ctr">
                    <a:solidFill>
                      <a:srgbClr val="F1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038"/>
                          </a:solidFill>
                          <a:latin typeface="Arial"/>
                        </a:rPr>
                        <a:t>sessão de 15 min; </a:t>
                      </a:r>
                      <a:r>
                        <a:rPr lang="pt-BR" sz="1800" b="0">
                          <a:solidFill>
                            <a:srgbClr val="262038"/>
                          </a:solidFill>
                          <a:latin typeface="Arial"/>
                        </a:rPr>
                        <a:t>5 senhas erradas bloqueiam a conta por 5 min, o dobro se repetir</a:t>
                      </a:r>
                      <a:endParaRPr sz="1800" b="0">
                        <a:solidFill>
                          <a:srgbClr val="262038"/>
                        </a:solidFill>
                        <a:latin typeface="Arial"/>
                      </a:endParaRPr>
                    </a:p>
                  </a:txBody>
                  <a:tcPr marL="79200" marR="79200" marT="21600" marB="21600" anchor="ctr">
                    <a:solidFill>
                      <a:srgbClr val="F1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B2B7D"/>
                          </a:solidFill>
                          <a:latin typeface="Arial"/>
                        </a:rPr>
                        <a:t>Recuperação</a:t>
                      </a:r>
                    </a:p>
                  </a:txBody>
                  <a:tcPr marL="79200" marR="79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038"/>
                          </a:solidFill>
                          <a:latin typeface="Arial"/>
                        </a:rPr>
                        <a:t>token de 256 bits, uso único e 30 min; só o SHA-256 é salvo</a:t>
                      </a:r>
                    </a:p>
                  </a:txBody>
                  <a:tcPr marL="79200" marR="792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B2B7D"/>
                          </a:solidFill>
                          <a:latin typeface="Arial"/>
                        </a:rPr>
                        <a:t>Em trânsito</a:t>
                      </a:r>
                    </a:p>
                  </a:txBody>
                  <a:tcPr marL="79200" marR="79200" marT="21600" marB="21600" anchor="ctr">
                    <a:solidFill>
                      <a:srgbClr val="F1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038"/>
                          </a:solidFill>
                          <a:latin typeface="Arial"/>
                        </a:rPr>
                        <a:t>HTTPS com TLS 1.3 e HSTS; TLS também até o banco</a:t>
                      </a:r>
                    </a:p>
                  </a:txBody>
                  <a:tcPr marL="79200" marR="79200" marT="21600" marB="21600" anchor="ctr">
                    <a:solidFill>
                      <a:srgbClr val="F1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B2B7D"/>
                          </a:solidFill>
                          <a:latin typeface="Arial"/>
                        </a:rPr>
                        <a:t>Auditoria</a:t>
                      </a:r>
                    </a:p>
                  </a:txBody>
                  <a:tcPr marL="79200" marR="79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038"/>
                          </a:solidFill>
                          <a:latin typeface="Arial"/>
                        </a:rPr>
                        <a:t>cada evento guarda o hash SHA-256 do anterior (Schneier; Kelsey, 1999)</a:t>
                      </a:r>
                    </a:p>
                  </a:txBody>
                  <a:tcPr marL="79200" marR="792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4" name="Rounded Rectangle 53"/>
          <p:cNvSpPr/>
          <p:nvPr/>
        </p:nvSpPr>
        <p:spPr>
          <a:xfrm>
            <a:off x="10018800" y="25254000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REFERÊNCIAS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8800" y="25848000"/>
            <a:ext cx="8758800" cy="2736000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554E68"/>
                </a:solidFill>
                <a:latin typeface="Arial"/>
              </a:rPr>
              <a:t>BIRYUKOV, A. et al. RFC 9106: Argon2 memory-hard function for password hashing and proof-of-work applications. IETF, 2021.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554E68"/>
                </a:solidFill>
                <a:latin typeface="Arial"/>
              </a:rPr>
              <a:t>BRASIL. Lei nº 13.709, de 14 de agosto de 2018. Lei Geral de Proteção de Dados Pessoais (LGPD). Brasília, 2018.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554E68"/>
                </a:solidFill>
                <a:latin typeface="Arial"/>
              </a:rPr>
              <a:t>DWORKIN, M. NIST SP 800-38D: recommendation for block cipher modes of operation: Galois/Counter Mode (GCM) and GMAC. NIST, 2007.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554E68"/>
                </a:solidFill>
                <a:latin typeface="Arial"/>
              </a:rPr>
              <a:t>M'RAIHI, D. et al. RFC 6238: TOTP: time-based one-time password algorithm. IETF, 2011.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554E68"/>
                </a:solidFill>
                <a:latin typeface="Arial"/>
              </a:rPr>
              <a:t>OWASP FOUNDATION. OWASP Top 10: 2021. 2021.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554E68"/>
                </a:solidFill>
                <a:latin typeface="Arial"/>
              </a:rPr>
              <a:t>RESCORLA, E. RFC 8446: the Transport Layer Security (TLS) protocol version 1.3. IETF, 2018.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554E68"/>
                </a:solidFill>
                <a:latin typeface="Arial"/>
              </a:rPr>
              <a:t>SCHNEIER, B.; KELSEY, J. Secure audit logs to support computer forensics. ACM Transactions on Information and System Security, v. 2, n. 2, p. 159-176, 1999.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141200" y="18054000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CONFORMIDADE COM A LGPD</a:t>
            </a:r>
          </a:p>
        </p:txBody>
      </p:sp>
      <p:pic>
        <p:nvPicPr>
          <p:cNvPr id="57" name="Picture 56" descr="print_lgp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1200" y="18648000"/>
            <a:ext cx="3600000" cy="3836496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9141200" y="18648000"/>
            <a:ext cx="3600000" cy="3836496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D6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9141200" y="22520496"/>
            <a:ext cx="3600000" cy="360000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54E68"/>
                </a:solidFill>
                <a:latin typeface="Arial"/>
              </a:rPr>
              <a:t>Aviso de privacidade exibido no cadastro.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921200" y="18648000"/>
            <a:ext cx="4978799" cy="4196496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3B2B7D"/>
                </a:solidFill>
                <a:latin typeface="Arial"/>
              </a:rPr>
              <a:t>Minimização (art. 6º, III): </a:t>
            </a:r>
            <a:r>
              <a:rPr sz="1900" b="0">
                <a:solidFill>
                  <a:srgbClr val="262038"/>
                </a:solidFill>
                <a:latin typeface="Arial"/>
              </a:rPr>
              <a:t>só nome, e-mail e senha; a busca por sintomas não grava dados.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3B2B7D"/>
                </a:solidFill>
                <a:latin typeface="Arial"/>
              </a:rPr>
              <a:t>Finalidade (art. 8º, §4º): </a:t>
            </a:r>
            <a:r>
              <a:rPr sz="1900" b="0">
                <a:solidFill>
                  <a:srgbClr val="262038"/>
                </a:solidFill>
                <a:latin typeface="Arial"/>
              </a:rPr>
              <a:t>aceites separados para a conta e para guardar materiais, com data e versão.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3B2B7D"/>
                </a:solidFill>
                <a:latin typeface="Arial"/>
              </a:rPr>
              <a:t>Revogação (art. 8º, §5º): </a:t>
            </a:r>
            <a:r>
              <a:rPr sz="1900" b="0">
                <a:solidFill>
                  <a:srgbClr val="262038"/>
                </a:solidFill>
                <a:latin typeface="Arial"/>
              </a:rPr>
              <a:t>revogar apaga os materiais; excluir a conta revoga tudo.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3B2B7D"/>
                </a:solidFill>
                <a:latin typeface="Arial"/>
              </a:rPr>
              <a:t>Direitos (art. 18): </a:t>
            </a:r>
            <a:r>
              <a:rPr sz="1900" b="0">
                <a:solidFill>
                  <a:srgbClr val="262038"/>
                </a:solidFill>
                <a:latin typeface="Arial"/>
              </a:rPr>
              <a:t>consulta, exportação e exclusão em “Meus dados”.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141200" y="22952496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RESULTADOS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141200" y="23546496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lang="pt-BR" sz="4400" b="1">
                <a:solidFill>
                  <a:srgbClr val="71388D"/>
                </a:solidFill>
                <a:latin typeface="Arial"/>
              </a:rPr>
              <a:t>146</a:t>
            </a:r>
            <a:endParaRPr sz="4400" b="1">
              <a:solidFill>
                <a:srgbClr val="71388D"/>
              </a:solidFill>
              <a:latin typeface="Arial"/>
            </a:endParaRPr>
          </a:p>
          <a:p>
            <a:pPr algn="ctr">
              <a:lnSpc>
                <a:spcPct val="103000"/>
              </a:lnSpc>
            </a:pPr>
            <a:r>
              <a:rPr sz="1700" b="0">
                <a:solidFill>
                  <a:srgbClr val="262038"/>
                </a:solidFill>
                <a:latin typeface="Arial"/>
              </a:rPr>
              <a:t>testes automatizados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152600" y="23546496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4400" b="1">
                <a:solidFill>
                  <a:srgbClr val="71388D"/>
                </a:solidFill>
                <a:latin typeface="Arial"/>
              </a:rPr>
              <a:t>15</a:t>
            </a:r>
          </a:p>
          <a:p>
            <a:pPr algn="ctr">
              <a:lnSpc>
                <a:spcPct val="103000"/>
              </a:lnSpc>
            </a:pPr>
            <a:r>
              <a:rPr sz="1700" b="0">
                <a:solidFill>
                  <a:srgbClr val="262038"/>
                </a:solidFill>
                <a:latin typeface="Arial"/>
              </a:rPr>
              <a:t>riscos mapeados na matriz, nenhum crítico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164000" y="23546496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4400" b="1">
                <a:solidFill>
                  <a:srgbClr val="71388D"/>
                </a:solidFill>
                <a:latin typeface="Arial"/>
              </a:rPr>
              <a:t>3</a:t>
            </a:r>
          </a:p>
          <a:p>
            <a:pPr algn="ctr">
              <a:lnSpc>
                <a:spcPct val="103000"/>
              </a:lnSpc>
            </a:pPr>
            <a:r>
              <a:rPr sz="1700" b="0">
                <a:solidFill>
                  <a:srgbClr val="262038"/>
                </a:solidFill>
                <a:latin typeface="Arial"/>
              </a:rPr>
              <a:t>varreduras de segurança a cada commit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141200" y="25130496"/>
            <a:ext cx="8758800" cy="503999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>
                <a:solidFill>
                  <a:srgbClr val="262038"/>
                </a:solidFill>
                <a:latin typeface="Arial"/>
              </a:rPr>
              <a:t>Os cinco blocos de requisitos de segurança foram implementados.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9141200" y="25742496"/>
            <a:ext cx="8758800" cy="468000"/>
          </a:xfrm>
          <a:prstGeom prst="roundRect">
            <a:avLst>
              <a:gd name="adj" fmla="val 30000"/>
            </a:avLst>
          </a:prstGeom>
          <a:solidFill>
            <a:srgbClr val="3B2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/>
          <a:lstStyle/>
          <a:p>
            <a:pPr algn="ctr">
              <a:lnSpc>
                <a:spcPct val="103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CONCLUSÃO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141200" y="26336496"/>
            <a:ext cx="8758800" cy="2015999"/>
          </a:xfrm>
          <a:prstGeom prst="rect">
            <a:avLst/>
          </a:prstGeom>
          <a:noFill/>
        </p:spPr>
        <p:txBody>
          <a:bodyPr wrap="square" lIns="43200" tIns="43200" rIns="43200" bIns="43200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0">
                <a:solidFill>
                  <a:srgbClr val="262038"/>
                </a:solidFill>
                <a:latin typeface="Arial"/>
              </a:rPr>
              <a:t>O Health In Sight mostrou que dá para oferecer informação de saúde útil coletando o mínimo de dados pessoais. As escolhas de segurança seguem normas reconhecidas, como as RFC 9106 e 6238 e o NIST SP 800-38D. Como próximos passos, queremos ampliar o acervo com mais condições e fontes e continuar evoluindo os controles a partir da análise de riscos.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904</Words>
  <Application>Microsoft Office PowerPoint</Application>
  <PresentationFormat>Personalizar</PresentationFormat>
  <Paragraphs>94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Cassiano Jesus</cp:lastModifiedBy>
  <cp:revision>2</cp:revision>
  <dcterms:created xsi:type="dcterms:W3CDTF">2013-01-27T09:14:16Z</dcterms:created>
  <dcterms:modified xsi:type="dcterms:W3CDTF">2026-10-21T00:15:00Z</dcterms:modified>
  <cp:category/>
</cp:coreProperties>
</file>